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oppins Medium" panose="00000600000000000000" pitchFamily="2" charset="0"/>
      <p:regular r:id="rId18"/>
      <p:bold r:id="rId19"/>
      <p:italic r:id="rId20"/>
      <p:boldItalic r:id="rId21"/>
    </p:embeddedFont>
    <p:embeddedFont>
      <p:font typeface="Poppins SemiBold" panose="000007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8693eac29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e8693eac29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8693eac29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8693eac29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8693eac29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8693eac29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8693eac29_22_0)">
  <p:cSld name="Generated (g3e8693eac29_22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581025" y="2351575"/>
            <a:ext cx="110299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Financial </a:t>
            </a:r>
            <a:r>
              <a:rPr lang="en-US" sz="60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Sales &amp;</a:t>
            </a:r>
            <a:br>
              <a:rPr lang="en-US" sz="6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Profitability Performance</a:t>
            </a:r>
            <a:endParaRPr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838450"/>
            <a:ext cx="441186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1550" y="3228975"/>
            <a:ext cx="363081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/>
        </p:nvSpPr>
        <p:spPr>
          <a:xfrm>
            <a:off x="5721555" y="1860766"/>
            <a:ext cx="6818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Financial Overview</a:t>
            </a:r>
            <a:endParaRPr sz="3200" dirty="0"/>
          </a:p>
        </p:txBody>
      </p:sp>
      <p:sp>
        <p:nvSpPr>
          <p:cNvPr id="96" name="Google Shape;96;p15"/>
          <p:cNvSpPr txBox="1"/>
          <p:nvPr/>
        </p:nvSpPr>
        <p:spPr>
          <a:xfrm>
            <a:off x="971550" y="4124325"/>
            <a:ext cx="363081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Total Sales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6F41B9-F537-1D7B-D8EB-4B79313A9861}"/>
              </a:ext>
            </a:extLst>
          </p:cNvPr>
          <p:cNvGrpSpPr/>
          <p:nvPr/>
        </p:nvGrpSpPr>
        <p:grpSpPr>
          <a:xfrm>
            <a:off x="5721555" y="2594299"/>
            <a:ext cx="6284700" cy="3677924"/>
            <a:chOff x="5721555" y="2594299"/>
            <a:chExt cx="6284700" cy="2587852"/>
          </a:xfrm>
        </p:grpSpPr>
        <p:sp>
          <p:nvSpPr>
            <p:cNvPr id="97" name="Google Shape;97;p15"/>
            <p:cNvSpPr txBox="1"/>
            <p:nvPr/>
          </p:nvSpPr>
          <p:spPr>
            <a:xfrm>
              <a:off x="5721555" y="2594299"/>
              <a:ext cx="6284700" cy="519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Strong Bottom-line Result: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Generated 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$16.89M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in total net profits, indicating highly efficient operations.</a:t>
              </a:r>
              <a:endParaRPr sz="1500" dirty="0"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5721555" y="3283671"/>
              <a:ext cx="6284700" cy="519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Healthy Profit Margin: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Maintained an overall profit margin of 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14.23%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across all transactions.</a:t>
              </a:r>
              <a:endParaRPr sz="1500" dirty="0"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5721555" y="3973042"/>
              <a:ext cx="6284700" cy="519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Volume Leaderboard: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Successfully distributed 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1.13M units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, demonstrating massive logistics scale.</a:t>
              </a:r>
              <a:endParaRPr sz="1500" dirty="0"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5721555" y="4662414"/>
              <a:ext cx="6284700" cy="5197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Market Growth: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Recorded a robust sales growth rate of </a:t>
              </a:r>
              <a:r>
                <a:rPr lang="en-US" sz="1500" b="0" i="0" u="none" strike="noStrike" cap="none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11.24%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year-over-year.</a:t>
              </a:r>
              <a:endParaRPr sz="1500" dirty="0"/>
            </a:p>
          </p:txBody>
        </p:sp>
      </p:grpSp>
      <p:pic>
        <p:nvPicPr>
          <p:cNvPr id="101" name="Google Shape;10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73885" y="284859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45310" y="386864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73885" y="480321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373885" y="5780603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23900" y="485775"/>
            <a:ext cx="1143142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Performance Indicators</a:t>
            </a:r>
            <a:endParaRPr sz="3600" dirty="0"/>
          </a:p>
        </p:txBody>
      </p:sp>
      <p:sp>
        <p:nvSpPr>
          <p:cNvPr id="106" name="Google Shape;106;p15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80376" y="1880931"/>
            <a:ext cx="5590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Sales Performance Summary</a:t>
            </a:r>
            <a:endParaRPr sz="2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A9674E-B70C-5EE7-D75F-07BCB513515A}"/>
              </a:ext>
            </a:extLst>
          </p:cNvPr>
          <p:cNvGrpSpPr/>
          <p:nvPr/>
        </p:nvGrpSpPr>
        <p:grpSpPr>
          <a:xfrm>
            <a:off x="562153" y="2478132"/>
            <a:ext cx="5324400" cy="3894093"/>
            <a:chOff x="581025" y="2746325"/>
            <a:chExt cx="5324400" cy="3414772"/>
          </a:xfrm>
        </p:grpSpPr>
        <p:sp>
          <p:nvSpPr>
            <p:cNvPr id="113" name="Google Shape;113;p16"/>
            <p:cNvSpPr txBox="1"/>
            <p:nvPr/>
          </p:nvSpPr>
          <p:spPr>
            <a:xfrm>
              <a:off x="581025" y="2746325"/>
              <a:ext cx="5324400" cy="104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Product Distribution: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Paseo is the primary top-line driver, contributing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$33M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in total sales. VTT is second at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$21M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, followed by Velo and Amarilla both generating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$18M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500" dirty="0"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581025" y="3757766"/>
              <a:ext cx="5324400" cy="13962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Geographic Balance: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Sales volumes remain extremely well balanced internationally. The United States and Canada lead sales at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$27M each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, with France ($26M) and Germany ($25M) following closely behind.</a:t>
              </a:r>
              <a:endParaRPr sz="1500" dirty="0"/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581025" y="5113933"/>
              <a:ext cx="5324400" cy="104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Seasonality Trend: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Strong Q4 performance peak observed in October (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$17M sales spike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), followed by a steady finish in November ($11M) and December ($13M).</a:t>
              </a:r>
              <a:endParaRPr sz="1500" dirty="0"/>
            </a:p>
          </p:txBody>
        </p:sp>
      </p:grpSp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000250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5862" y="324609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7586662" y="3741390"/>
            <a:ext cx="27241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Paste Sales Dashboard Screenshot Here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86662" y="4023270"/>
            <a:ext cx="27241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Capture Page 1 of "DASBOARD 3.pdf"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23900" y="485775"/>
            <a:ext cx="114314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View: Sales Analysis</a:t>
            </a:r>
            <a:endParaRPr sz="3200" dirty="0"/>
          </a:p>
        </p:txBody>
      </p:sp>
      <p:sp>
        <p:nvSpPr>
          <p:cNvPr id="121" name="Google Shape;121;p16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5250" y="2118825"/>
            <a:ext cx="5286374" cy="346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67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524314" y="1746969"/>
            <a:ext cx="5590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Profitability Performance Summary</a:t>
            </a:r>
            <a:endParaRPr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2DC10D1-173D-1BEC-2B0A-5EAE9935B89A}"/>
              </a:ext>
            </a:extLst>
          </p:cNvPr>
          <p:cNvGrpSpPr/>
          <p:nvPr/>
        </p:nvGrpSpPr>
        <p:grpSpPr>
          <a:xfrm>
            <a:off x="600074" y="2363084"/>
            <a:ext cx="5324400" cy="4187618"/>
            <a:chOff x="581025" y="2746325"/>
            <a:chExt cx="5324400" cy="3860845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581025" y="2746325"/>
              <a:ext cx="5324400" cy="1362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High Net Contribution: 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Government represents the highest absolute segment profit driver, accounting for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$11.39M (65.04% of total mix)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 Small Business provides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$4.14M (23.66%)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500" dirty="0"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581025" y="4075975"/>
              <a:ext cx="5324400" cy="10215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Margin Leader: 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While Paseo leads in absolute profit ($4.8M),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Amarilla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achieves the highest individual profit margin percentage at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16%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, closely followed by VTT (15%).</a:t>
              </a:r>
              <a:endParaRPr sz="1500" dirty="0"/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581025" y="4785133"/>
              <a:ext cx="5324400" cy="18220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b="1" i="0" u="none" strike="noStrike" cap="none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Country Margins: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France and Germany represent the most cost-efficient operational centers, leading with profit margins of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14.54%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and </a:t>
              </a:r>
              <a:r>
                <a:rPr lang="en-US" sz="1500" b="1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14.72%</a:t>
              </a:r>
              <a:r>
                <a:rPr lang="en-US" sz="1500" b="0" i="0" u="none" strike="noStrike" cap="none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respectively, outperforming the high-volume US market (11.11%).</a:t>
              </a:r>
              <a:endParaRPr sz="1500" dirty="0"/>
            </a:p>
          </p:txBody>
        </p:sp>
      </p:grpSp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50" y="2000250"/>
            <a:ext cx="52863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05862" y="324609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562850" y="3741390"/>
            <a:ext cx="27717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Paste Profit Dashboard Screenshot Here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562850" y="4023270"/>
            <a:ext cx="27717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Capture Page 2 of "DASBOARD 3.pdf"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23900" y="485775"/>
            <a:ext cx="11431428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View: Profit Analysis</a:t>
            </a:r>
            <a:endParaRPr sz="3200" dirty="0"/>
          </a:p>
        </p:txBody>
      </p:sp>
      <p:sp>
        <p:nvSpPr>
          <p:cNvPr id="137" name="Google Shape;137;p17"/>
          <p:cNvSpPr/>
          <p:nvPr/>
        </p:nvSpPr>
        <p:spPr>
          <a:xfrm>
            <a:off x="581025" y="485775"/>
            <a:ext cx="3810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05550" y="2009250"/>
            <a:ext cx="5286376" cy="35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14549"/>
            <a:ext cx="5324474" cy="3956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14550"/>
            <a:ext cx="5324474" cy="395646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876300" y="24098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Profit Efficiency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581775" y="2409825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Customer Segment Dynamics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50731F-EF24-65B4-EC67-48247A41BB2B}"/>
              </a:ext>
            </a:extLst>
          </p:cNvPr>
          <p:cNvGrpSpPr/>
          <p:nvPr/>
        </p:nvGrpSpPr>
        <p:grpSpPr>
          <a:xfrm>
            <a:off x="1114425" y="2928968"/>
            <a:ext cx="4495124" cy="2643726"/>
            <a:chOff x="1113750" y="2928968"/>
            <a:chExt cx="4495800" cy="2414528"/>
          </a:xfrm>
        </p:grpSpPr>
        <p:sp>
          <p:nvSpPr>
            <p:cNvPr id="148" name="Google Shape;148;p18"/>
            <p:cNvSpPr txBox="1"/>
            <p:nvPr/>
          </p:nvSpPr>
          <p:spPr>
            <a:xfrm>
              <a:off x="1113750" y="2928968"/>
              <a:ext cx="4495800" cy="63246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Paseo Leading Value: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Generates the largest portion of absolute profits (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$4.8M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) on a stable 15% margin foundation.</a:t>
              </a:r>
              <a:endParaRPr sz="15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1113750" y="3693880"/>
              <a:ext cx="4495800" cy="42164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VTT Strong Yield: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Drives 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$3.0M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of total profits, displaying reliable 15% margin consistency.</a:t>
              </a:r>
              <a:endParaRPr sz="15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1113750" y="4286454"/>
              <a:ext cx="4495800" cy="431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Amarilla High-Efficiency: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Achieves a peak 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16% margin yield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on smaller volume scale, earning $2.8M.</a:t>
              </a:r>
              <a:endParaRPr sz="15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1113750" y="4912396"/>
              <a:ext cx="4495800" cy="431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Carretera Lagging: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Lowest margin performer (13%), representing a key cost-containment focus area</a:t>
              </a:r>
              <a:r>
                <a:rPr lang="en-US" sz="14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4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9A925B4-48F8-F44B-74D7-20BA9323DD97}"/>
              </a:ext>
            </a:extLst>
          </p:cNvPr>
          <p:cNvGrpSpPr/>
          <p:nvPr/>
        </p:nvGrpSpPr>
        <p:grpSpPr>
          <a:xfrm>
            <a:off x="6865495" y="2886075"/>
            <a:ext cx="4446885" cy="2907094"/>
            <a:chOff x="6819900" y="2886075"/>
            <a:chExt cx="4516217" cy="2907094"/>
          </a:xfrm>
        </p:grpSpPr>
        <p:sp>
          <p:nvSpPr>
            <p:cNvPr id="152" name="Google Shape;152;p18"/>
            <p:cNvSpPr txBox="1"/>
            <p:nvPr/>
          </p:nvSpPr>
          <p:spPr>
            <a:xfrm>
              <a:off x="6819900" y="2886075"/>
              <a:ext cx="4495800" cy="692497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Government Dependency: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Represents 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65.04%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of global profitability. A critical recurring customer anchor.</a:t>
              </a:r>
              <a:endParaRPr sz="15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6840317" y="3684525"/>
              <a:ext cx="4495800" cy="692497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Small Business Focus: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Contributes 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23.66%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of total profitability ($4.14M). Highly strategic growth engine</a:t>
              </a:r>
              <a:r>
                <a:rPr lang="en-US" sz="14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4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6819900" y="4435774"/>
              <a:ext cx="4495800" cy="46166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Channel Partnerships: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Represents </a:t>
              </a: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7.52%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($1.32M) of profit mix with optimized operational footprint</a:t>
              </a:r>
              <a:r>
                <a:rPr lang="en-US" sz="14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4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6840316" y="5100672"/>
              <a:ext cx="4495800" cy="692497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Enterprise/Midmarket:</a:t>
              </a:r>
              <a:r>
                <a:rPr lang="en-US" sz="1500" b="0" i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Less than 4% total profit combined, representing low penetration or high cost-to-serve.</a:t>
              </a:r>
              <a:endParaRPr sz="1500" b="1" i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56" name="Google Shape;156;p18"/>
          <p:cNvSpPr txBox="1"/>
          <p:nvPr/>
        </p:nvSpPr>
        <p:spPr>
          <a:xfrm>
            <a:off x="879620" y="3078123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855883" y="3830099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876300" y="4514567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876300" y="5194260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60" name="Google Shape;160;p18"/>
          <p:cNvSpPr txBox="1"/>
          <p:nvPr/>
        </p:nvSpPr>
        <p:spPr>
          <a:xfrm>
            <a:off x="6581775" y="2979505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61" name="Google Shape;161;p18"/>
          <p:cNvSpPr txBox="1"/>
          <p:nvPr/>
        </p:nvSpPr>
        <p:spPr>
          <a:xfrm>
            <a:off x="6601642" y="3766489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62" name="Google Shape;162;p18"/>
          <p:cNvSpPr txBox="1"/>
          <p:nvPr/>
        </p:nvSpPr>
        <p:spPr>
          <a:xfrm>
            <a:off x="6581775" y="4506848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603595" y="5293832"/>
            <a:ext cx="1428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723900" y="485775"/>
            <a:ext cx="114315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Segment &amp; Product Mix</a:t>
            </a:r>
            <a:endParaRPr sz="3200" dirty="0"/>
          </a:p>
        </p:txBody>
      </p:sp>
      <p:sp>
        <p:nvSpPr>
          <p:cNvPr id="165" name="Google Shape;165;p18"/>
          <p:cNvSpPr/>
          <p:nvPr/>
        </p:nvSpPr>
        <p:spPr>
          <a:xfrm>
            <a:off x="581025" y="485775"/>
            <a:ext cx="38100" cy="485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81025" y="485775"/>
            <a:ext cx="38100" cy="485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723900" y="485775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</a:t>
            </a:r>
            <a:endParaRPr sz="3600" b="0" dirty="0">
              <a:solidFill>
                <a:srgbClr val="F8FAFC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4" name="Google Shape;174;p19"/>
          <p:cNvGrpSpPr/>
          <p:nvPr/>
        </p:nvGrpSpPr>
        <p:grpSpPr>
          <a:xfrm>
            <a:off x="952500" y="1362188"/>
            <a:ext cx="10287000" cy="1495312"/>
            <a:chOff x="0" y="0"/>
            <a:chExt cx="10287000" cy="1143000"/>
          </a:xfrm>
        </p:grpSpPr>
        <p:sp>
          <p:nvSpPr>
            <p:cNvPr id="175" name="Google Shape;175;p19"/>
            <p:cNvSpPr/>
            <p:nvPr/>
          </p:nvSpPr>
          <p:spPr>
            <a:xfrm>
              <a:off x="0" y="0"/>
              <a:ext cx="10287000" cy="1143000"/>
            </a:xfrm>
            <a:prstGeom prst="roundRect">
              <a:avLst>
                <a:gd name="adj" fmla="val 10000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285750" y="142875"/>
              <a:ext cx="971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dirty="0">
                  <a:solidFill>
                    <a:srgbClr val="38BDF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Core Profitability Outlook</a:t>
              </a:r>
              <a:endParaRPr sz="2400" b="0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285750" y="619125"/>
              <a:ext cx="971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Operations demonstrate a highly efficient </a:t>
              </a:r>
              <a:r>
                <a:rPr lang="en-US" sz="1600" b="1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14.23% net margin</a:t>
              </a:r>
              <a:r>
                <a:rPr lang="en-US" sz="16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, anchored by the Government segment's </a:t>
              </a:r>
              <a:r>
                <a:rPr lang="en-US" sz="1600" b="1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65.04% contribution</a:t>
              </a:r>
              <a:r>
                <a:rPr lang="en-US" sz="16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and the high-yield performance of the Paseo and Amarilla product lines.</a:t>
              </a:r>
              <a:endParaRPr sz="1600" b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952500" y="3143250"/>
            <a:ext cx="10287000" cy="3143400"/>
            <a:chOff x="0" y="0"/>
            <a:chExt cx="10287000" cy="31434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10287000" cy="3143400"/>
            </a:xfrm>
            <a:prstGeom prst="roundRect">
              <a:avLst>
                <a:gd name="adj" fmla="val 3636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285750" y="285750"/>
              <a:ext cx="9715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dirty="0">
                  <a:solidFill>
                    <a:srgbClr val="38BDF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Growth Opportunities</a:t>
              </a:r>
              <a:endParaRPr sz="2400" b="0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285750" y="971663"/>
              <a:ext cx="97155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800" b="1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Small Business Expansion:</a:t>
              </a: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Accelerate the strategic growth engine currently delivering $4.14M in profits.</a:t>
              </a:r>
              <a:endParaRPr sz="1800" b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800" b="1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Margin Optimization:</a:t>
              </a: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Apply Amarilla's high-efficiency model (16%) to lagging product lines.</a:t>
              </a:r>
              <a:endParaRPr sz="1800" b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800" b="1" dirty="0">
                  <a:solidFill>
                    <a:srgbClr val="F8FAFC"/>
                  </a:solidFill>
                  <a:latin typeface="Lato"/>
                  <a:ea typeface="Lato"/>
                  <a:cs typeface="Lato"/>
                  <a:sym typeface="Lato"/>
                </a:rPr>
                <a:t>Regional Scaling:</a:t>
              </a:r>
              <a:r>
                <a:rPr lang="en-US" sz="180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 Leverage efficient European hubs (France/Germany) to bolster North American margins</a:t>
              </a:r>
              <a:r>
                <a:rPr lang="en-US" sz="1490" b="0" dirty="0">
                  <a:solidFill>
                    <a:srgbClr val="CBD5E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490" b="0" dirty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>
              <a:alpha val="8500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" name="Google Shape;188;p20"/>
          <p:cNvGrpSpPr/>
          <p:nvPr/>
        </p:nvGrpSpPr>
        <p:grpSpPr>
          <a:xfrm>
            <a:off x="952500" y="2286000"/>
            <a:ext cx="10287000" cy="2286000"/>
            <a:chOff x="0" y="0"/>
            <a:chExt cx="10287000" cy="2286000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0"/>
              <a:ext cx="10287000" cy="2286000"/>
            </a:xfrm>
            <a:prstGeom prst="roundRect">
              <a:avLst>
                <a:gd name="adj" fmla="val 5000"/>
              </a:avLst>
            </a:prstGeom>
            <a:solidFill>
              <a:srgbClr val="1E293B">
                <a:alpha val="5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0" y="0"/>
              <a:ext cx="1028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190500" rIns="190500" bIns="1905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00" b="1">
                  <a:solidFill>
                    <a:srgbClr val="38BDF8"/>
                  </a:solidFill>
                  <a:latin typeface="Poppins"/>
                  <a:ea typeface="Poppins"/>
                  <a:cs typeface="Poppins"/>
                  <a:sym typeface="Poppins"/>
                </a:rPr>
                <a:t>THANK YOU</a:t>
              </a:r>
              <a:endParaRPr sz="6400" b="1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ctr" rtl="0">
                <a:spcBef>
                  <a:spcPts val="750"/>
                </a:spcBef>
                <a:spcAft>
                  <a:spcPts val="0"/>
                </a:spcAft>
                <a:buNone/>
              </a:pPr>
              <a:endParaRPr sz="1800" b="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952500" y="4762500"/>
            <a:ext cx="102870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</a:pPr>
            <a:endParaRPr sz="1400" b="1">
              <a:solidFill>
                <a:srgbClr val="38BDF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571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Medium</vt:lpstr>
      <vt:lpstr>Poppins SemiBold</vt:lpstr>
      <vt:lpstr>Calibri</vt:lpstr>
      <vt:lpstr>Arial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S0840733</cp:lastModifiedBy>
  <cp:revision>3</cp:revision>
  <dcterms:modified xsi:type="dcterms:W3CDTF">2026-06-04T16:38:06Z</dcterms:modified>
</cp:coreProperties>
</file>